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232B33"/>
                </a:solidFill>
                <a:latin typeface="맑은 고딕"/>
              </a:rPr>
              <a:t>FFC 그림풀이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C6873"/>
                </a:solidFill>
                <a:latin typeface="맑은 고딕"/>
              </a:rPr>
              <a:t>번짐+잡음 영상을 복원한 우리 파이프라인의 핵심 블록,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5C6873"/>
                </a:solidFill>
                <a:latin typeface="맑은 고딕"/>
              </a:rPr>
              <a:t>FFC(Fast Fourier Convolution)를 그림 여섯 장으로 설명합니다.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79476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C9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7216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6A0A"/>
                </a:solidFill>
                <a:latin typeface="맑은 고딕"/>
              </a:rPr>
              <a:t>국소 갈래 (3×3 합성곱)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270248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F6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41970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3C4"/>
                </a:solidFill>
                <a:latin typeface="맑은 고딕"/>
              </a:rPr>
              <a:t>전역 갈래 (주파수 공간)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873"/>
                </a:solidFill>
                <a:latin typeface="맑은 고딕"/>
              </a:rPr>
              <a:t>최종 test 29.924 dB / SSIM 0.8973  ·  조교 end-to-end U-Net 25.02 대비 +4.90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32B33"/>
                </a:solidFill>
                <a:latin typeface="맑은 고딕"/>
              </a:rPr>
              <a:t>이 발표에서 쓰는 이름 — 끝까지 이 이름만 씁니다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8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B33"/>
                </a:solidFill>
                <a:latin typeface="맑은 고딕"/>
              </a:rPr>
              <a:t>합성곱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27101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C6873"/>
                </a:solidFill>
                <a:latin typeface="맑은 고딕"/>
              </a:rPr>
              <a:t>3×3 창 안의 9개 픽셀만 보고 새 값을 만드는 연산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8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96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B33"/>
                </a:solidFill>
                <a:latin typeface="맑은 고딕"/>
              </a:rPr>
              <a:t>수용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3969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C6873"/>
                </a:solidFill>
                <a:latin typeface="맑은 고딕"/>
              </a:rPr>
              <a:t>출력의 한 픽셀이 원본의 몇 칸 범위를 아는가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8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0837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B33"/>
                </a:solidFill>
                <a:latin typeface="맑은 고딕"/>
              </a:rPr>
              <a:t>주파수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0837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C6873"/>
                </a:solidFill>
                <a:latin typeface="맑은 고딕"/>
              </a:rPr>
              <a:t>영상을 “무늬 굵기별 성분”으로 분해한 표현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8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77055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B33"/>
                </a:solidFill>
                <a:latin typeface="맑은 고딕"/>
              </a:rPr>
              <a:t>주파수 성분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77055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C6873"/>
                </a:solidFill>
                <a:latin typeface="맑은 고딕"/>
              </a:rPr>
              <a:t>그 분해의 한 조각 — 영상 전체를 덮는 줄무늬 파동 하나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1772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8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4573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B33"/>
                </a:solidFill>
                <a:latin typeface="맑은 고딕"/>
              </a:rPr>
              <a:t>FFT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74573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C6873"/>
                </a:solidFill>
                <a:latin typeface="맑은 고딕"/>
              </a:rPr>
              <a:t>영상 ↔ 주파수 공간을 오가는 계산 (고속 푸리에 변환)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8640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8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144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B33"/>
                </a:solidFill>
                <a:latin typeface="맑은 고딕"/>
              </a:rPr>
              <a:t>다이폴 커널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61441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C6873"/>
                </a:solidFill>
                <a:latin typeface="맑은 고딕"/>
              </a:rPr>
              <a:t>번짐이 각 주파수 성분에 곱하는 숫자들의 지도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10896"/>
            <a:ext cx="384048" cy="384048"/>
          </a:xfrm>
          <a:prstGeom prst="ellipse">
            <a:avLst/>
          </a:prstGeom>
          <a:solidFill>
            <a:srgbClr val="23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7432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32B33"/>
                </a:solidFill>
                <a:latin typeface="맑은 고딕"/>
              </a:rPr>
              <a:t>보통의 합성곱: 한 층 안에서는 정보가 못 퍼진다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873"/>
                </a:solidFill>
                <a:latin typeface="맑은 고딕"/>
              </a:rPr>
              <a:t>합성곱 한 층의 출력 픽셀은 자기 주변 3×3만 봅니다. 정보가 멀리 가는 건 층을 쌓았을 때 — 그때도 한 층에 한 칸씩입니다.</a:t>
            </a:r>
          </a:p>
        </p:txBody>
      </p:sp>
      <p:pic>
        <p:nvPicPr>
          <p:cNvPr id="5" name="Picture 4" descr="1_r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600200"/>
            <a:ext cx="8778240" cy="38039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513832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32B33"/>
                </a:solidFill>
                <a:latin typeface="맑은 고딕"/>
              </a:rPr>
              <a:t>층마다 양쪽 1칸씩 → L층 뒤 수용 영역은 (2L+1)칸.  256×256 반대편까지 닿으려면 3×3 합성곱만으로는 약 128층.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C96A0A"/>
                </a:solidFill>
                <a:latin typeface="맑은 고딕"/>
              </a:rPr>
              <a:t>그런데 우리 과제의 번짐은 한 점의 빛이 영상 전체로 퍼진 현상 — 태생적으로 불리한 도구입니다.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10896"/>
            <a:ext cx="384048" cy="384048"/>
          </a:xfrm>
          <a:prstGeom prst="ellipse">
            <a:avLst/>
          </a:prstGeom>
          <a:solidFill>
            <a:srgbClr val="23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7432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32B33"/>
                </a:solidFill>
                <a:latin typeface="맑은 고딕"/>
              </a:rPr>
              <a:t>주파수 공간: 영상을 무늬 굵기별로 분해한다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873"/>
                </a:solidFill>
                <a:latin typeface="맑은 고딕"/>
              </a:rPr>
              <a:t>주파수 성분 하나 = 영상 전체를 덮는 줄무늬 파동 하나. 번짐은 이 공간에서 단순 곱셈이 됩니다.</a:t>
            </a:r>
          </a:p>
        </p:txBody>
      </p:sp>
      <p:pic>
        <p:nvPicPr>
          <p:cNvPr id="5" name="Picture 4" descr="2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87" y="1481328"/>
            <a:ext cx="8503920" cy="3897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8686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32B33"/>
                </a:solidFill>
                <a:latin typeface="맑은 고딕"/>
              </a:rPr>
              <a:t>숫자 하나를 곱하는 조작이 영상 전체에 한 번에 작용합니다. 단, D가 아주 작은 성분(최소 0.0000227)을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BE4139"/>
                </a:solidFill>
                <a:latin typeface="맑은 고딕"/>
              </a:rPr>
              <a:t>그대로 나누면 잡음이 최대 44,074배 — 이 과제가 어려운 이유의 전부입니다.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10896"/>
            <a:ext cx="384048" cy="384048"/>
          </a:xfrm>
          <a:prstGeom prst="ellipse">
            <a:avLst/>
          </a:prstGeom>
          <a:solidFill>
            <a:srgbClr val="23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7432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32B33"/>
                </a:solidFill>
                <a:latin typeface="맑은 고딕"/>
              </a:rPr>
              <a:t>FFC 블록: 두 갈래로 일을 나눈다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873"/>
                </a:solidFill>
                <a:latin typeface="맑은 고딕"/>
              </a:rPr>
              <a:t>채널을 두 팀으로 나눠, 한 팀은 3×3 창으로 보고, 한 팀은 주파수 공간에서 봅니다. 블록 끝에서 결과를 섞습니다.</a:t>
            </a:r>
          </a:p>
        </p:txBody>
      </p:sp>
      <p:pic>
        <p:nvPicPr>
          <p:cNvPr id="5" name="Picture 4" descr="3_ffc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517904"/>
            <a:ext cx="9692640" cy="39982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5327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32B33"/>
                </a:solidFill>
                <a:latin typeface="맑은 고딕"/>
              </a:rPr>
              <a:t>블록마다 두 갈래가 결과를 교환 → 세밀한 정보(주황)와 전체 정보(파랑)가 계속 섞임. 이 블록을 U-Net 모양으로 쌓은 것이 우리 신경망.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10896"/>
            <a:ext cx="384048" cy="384048"/>
          </a:xfrm>
          <a:prstGeom prst="ellipse">
            <a:avLst/>
          </a:prstGeom>
          <a:solidFill>
            <a:srgbClr val="23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7432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32B33"/>
                </a:solidFill>
                <a:latin typeface="맑은 고딕"/>
              </a:rPr>
              <a:t>왜 우리 문제에 딱 맞았나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873"/>
                </a:solidFill>
                <a:latin typeface="맑은 고딕"/>
              </a:rPr>
              <a:t>우리 과제의 번짐은 정확히 “성분마다 D가 곱해진 손상” — 배포된 순방향 코드이며, 배포 test 쌍 100장으로 역검증했습니다.</a:t>
            </a:r>
          </a:p>
        </p:txBody>
      </p:sp>
      <p:pic>
        <p:nvPicPr>
          <p:cNvPr id="5" name="Picture 4" descr="4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572768"/>
            <a:ext cx="8595360" cy="36769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554480" y="5414264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8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50570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5C6873"/>
                </a:solidFill>
                <a:latin typeface="맑은 고딕"/>
              </a:rPr>
              <a:t>25.02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6290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C6873"/>
                </a:solidFill>
                <a:latin typeface="맑은 고딕"/>
              </a:rPr>
              <a:t>조교 end-to-end U-Net (3×3 합성곱만)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5414264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8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550570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F63C4"/>
                </a:solidFill>
                <a:latin typeface="맑은 고딕"/>
              </a:rPr>
              <a:t>29.92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96290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C6873"/>
                </a:solidFill>
                <a:latin typeface="맑은 고딕"/>
              </a:rPr>
              <a:t>우리 FFC 2단계 파이프라인 (최종, test)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10896"/>
            <a:ext cx="384048" cy="384048"/>
          </a:xfrm>
          <a:prstGeom prst="ellipse">
            <a:avLst/>
          </a:prstGeom>
          <a:solidFill>
            <a:srgbClr val="23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7432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32B33"/>
                </a:solidFill>
                <a:latin typeface="맑은 고딕"/>
              </a:rPr>
              <a:t>FFC의 허점, 그리고 다이폴 지도 주입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873"/>
                </a:solidFill>
                <a:latin typeface="맑은 고딕"/>
              </a:rPr>
              <a:t>첫 시도는 17.68 dB — 전역 갈래가 모든 성분에 같은 규칙을 쓰는 탓에, 성분마다 다른 조정을 표현하지 못했습니다.</a:t>
            </a:r>
          </a:p>
        </p:txBody>
      </p:sp>
      <p:pic>
        <p:nvPicPr>
          <p:cNvPr id="5" name="Picture 4" descr="5_flaw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481328"/>
            <a:ext cx="8961120" cy="4928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10896"/>
            <a:ext cx="384048" cy="384048"/>
          </a:xfrm>
          <a:prstGeom prst="ellipse">
            <a:avLst/>
          </a:prstGeom>
          <a:solidFill>
            <a:srgbClr val="23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7432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32B33"/>
                </a:solidFill>
                <a:latin typeface="맑은 고딕"/>
              </a:rPr>
              <a:t>쪽지 주입의 효과 — 그리고 거꾸로 확인한 증거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1600200"/>
          </a:xfrm>
          <a:prstGeom prst="roundRect">
            <a:avLst>
              <a:gd name="adj" fmla="val 6000"/>
            </a:avLst>
          </a:prstGeom>
          <a:solidFill>
            <a:srgbClr val="DFE9F8"/>
          </a:solidFill>
          <a:ln w="17780">
            <a:solidFill>
              <a:srgbClr val="2F6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173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3C4"/>
                </a:solidFill>
                <a:latin typeface="맑은 고딕"/>
              </a:rPr>
              <a:t>효과 (측정)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32B33"/>
                </a:solidFill>
                <a:latin typeface="맑은 고딕"/>
              </a:rPr>
              <a:t>각 주파수 성분 자리에 D값·log|D|·부호 세 쪽지를 넣자, 같은 학습량 기준 17.68 → 24.48 dB (+6.8).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32B33"/>
                </a:solidFill>
                <a:latin typeface="맑은 고딕"/>
              </a:rPr>
              <a:t>끝까지 학습한 뒤 최종 test 29.92 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BE41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337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E4139"/>
                </a:solidFill>
                <a:latin typeface="맑은 고딕"/>
              </a:rPr>
              <a:t>거꾸로 확인한 증거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32B33"/>
                </a:solidFill>
                <a:latin typeface="맑은 고딕"/>
              </a:rPr>
              <a:t>학습이 끝난 뒤 “안정된 성분을 밖에서 직접 ÷D로 교체”하는 사후 보정을 모든 세기로 시도 → 전부 점수 하락.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32B33"/>
                </a:solidFill>
                <a:latin typeface="맑은 고딕"/>
              </a:rPr>
              <a:t>여러 보정을 최적 비율로 섞게 해도 가중치가 “신경망 98.4%”로 수렴.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B33"/>
                </a:solidFill>
                <a:latin typeface="맑은 고딕"/>
              </a:rPr>
              <a:t>결론: 물리는 사후에 보정하는 것보다 학습 중에 알려주는 쪽이 낫다.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C6873"/>
                </a:solidFill>
                <a:latin typeface="맑은 고딕"/>
              </a:rPr>
              <a:t>(뒤집기 4배 앙상블만 +0.46 dB로 채택되어 29.47 → 29.92 dB)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10896"/>
            <a:ext cx="384048" cy="384048"/>
          </a:xfrm>
          <a:prstGeom prst="ellipse">
            <a:avLst/>
          </a:prstGeom>
          <a:solidFill>
            <a:srgbClr val="23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7432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32B33"/>
                </a:solidFill>
                <a:latin typeface="맑은 고딕"/>
              </a:rPr>
              <a:t>잡음 제거(1단계)에도 FFC였던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873"/>
                </a:solidFill>
                <a:latin typeface="맑은 고딕"/>
              </a:rPr>
              <a:t>1단계의 정답은 “번진 영상” — D≈0인 성분 자리에는 신호가 애초에 없으므로, 거기서 발견되는 건 잡음뿐입니다.</a:t>
            </a:r>
          </a:p>
        </p:txBody>
      </p:sp>
      <p:pic>
        <p:nvPicPr>
          <p:cNvPr id="5" name="Picture 4" descr="6_de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572768"/>
            <a:ext cx="9052560" cy="3369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70348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32B33"/>
                </a:solidFill>
                <a:latin typeface="맑은 고딕"/>
              </a:rPr>
              <a:t>잡음 4종의 분업 — 튀는 점(salt&amp;pepper)은 국소 갈래, 고르게 퍼지는 잡음(gaussian·uniform)과 넓은 밝기 편향(rician)은 전역 갈래.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C6873"/>
                </a:solidFill>
                <a:latin typeface="맑은 고딕"/>
              </a:rPr>
              <a:t>종류별 성적이 이 분업과 일치: salt&amp;pepper 35.2 (최고) / gaussian 31.0 / uniform 31.6 / rician 23.2 (최저).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10896"/>
            <a:ext cx="384048" cy="384048"/>
          </a:xfrm>
          <a:prstGeom prst="ellipse">
            <a:avLst/>
          </a:prstGeom>
          <a:solidFill>
            <a:srgbClr val="23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4128" y="274320"/>
            <a:ext cx="106372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32B33"/>
                </a:solidFill>
                <a:latin typeface="맑은 고딕"/>
              </a:rPr>
              <a:t>근거의 세기 — 측정된 것과 정직한 한계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1920240"/>
          </a:xfrm>
          <a:prstGeom prst="roundRect">
            <a:avLst>
              <a:gd name="adj" fmla="val 6000"/>
            </a:avLst>
          </a:prstGeom>
          <a:solidFill>
            <a:srgbClr val="DFE9F8"/>
          </a:solidFill>
          <a:ln w="17780">
            <a:solidFill>
              <a:srgbClr val="2F6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17320"/>
            <a:ext cx="10058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F63C4"/>
                </a:solidFill>
                <a:latin typeface="맑은 고딕"/>
              </a:rPr>
              <a:t>측정된 증거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32B33"/>
                </a:solidFill>
                <a:latin typeface="맑은 고딕"/>
              </a:rPr>
              <a:t>학습 없는 고정 주파수 필터만으로 18.51 → 23.14 dB — 신호와 잡음이 주파수 공간에서 상당히 갈라진다는 직접 증거.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32B33"/>
                </a:solidFill>
                <a:latin typeface="맑은 고딕"/>
              </a:rPr>
              <a:t>FFC는 그 고정 필터를 “내용에 따라 조절되는 학습된 필터”로 만든 것 → 30.27 dB (DnCNN 재사용 24.91, 중앙값 필터 22.17).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2103120"/>
          </a:xfrm>
          <a:prstGeom prst="roundRect">
            <a:avLst>
              <a:gd name="adj" fmla="val 6000"/>
            </a:avLst>
          </a:prstGeom>
          <a:solidFill>
            <a:srgbClr val="F7E8D4"/>
          </a:solidFill>
          <a:ln w="17780">
            <a:solidFill>
              <a:srgbClr val="C96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10058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6A0A"/>
                </a:solidFill>
                <a:latin typeface="맑은 고딕"/>
              </a:rPr>
              <a:t>정직한 한계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32B33"/>
                </a:solidFill>
                <a:latin typeface="맑은 고딕"/>
              </a:rPr>
              <a:t>“같은 학습 예산의 3×3 합성곱 신경망 vs FFC” 통제 실험은 하지 않았습니다. 이긴 비교 대상들은 재학습 없이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32B33"/>
                </a:solidFill>
                <a:latin typeface="맑은 고딕"/>
              </a:rPr>
              <a:t>재사용했거나 학습이 없는 방법들입니다. 채택에는 실무 이유도 있었습니다 — 256 원해상도에서 빠르고(1.15분/epoch),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32B33"/>
                </a:solidFill>
                <a:latin typeface="맑은 고딕"/>
              </a:rPr>
              <a:t>두 단계가 같은 구조라 1단계 체크포인트를 2단계가 그대로 불러 쓸 수 있었습니다.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한 문장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>FFC는 “옆 동네를 보는 3×3 합성곱 갈래”와 “주파수 성분마다 숫자를 곱해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>영상 전체를 한 층에 다루는 갈래”를 한 블록에 넣은 구조다.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맑은 고딕"/>
              </a:rPr>
              <a:t>우리 과제의 번짐이 정확히 “성분마다 곱해진 손상”이라 이 구조가 맞아떨어졌고,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맑은 고딕"/>
              </a:rPr>
              <a:t>성분마다 다른 조정이 필요하다는 허점은 각 자리에 D값 쪽지를 넣어 해결했다.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8C0C8"/>
                </a:solidFill>
                <a:latin typeface="맑은 고딕"/>
              </a:rPr>
              <a:t>삼성 DS Image Restoration Challenge · FFC 2단계 복원 파이프라인 · 최종 test 29.924 dB / SSIM 0.8973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